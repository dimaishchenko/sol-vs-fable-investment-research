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113abb4f794f62" /><Relationship Type="http://schemas.openxmlformats.org/officeDocument/2006/relationships/extended-properties" Target="/docProps/app.xml" Id="R67dd0450fabd41eb" /><Relationship Type="http://schemas.openxmlformats.org/officeDocument/2006/relationships/officeDocument" Target="/ppt/presentation.xml" Id="R6866245810e748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1e00a3c3d94f80"/>
  </p:sldMasterIdLst>
  <p:notesMasterIdLst>
    <p:notesMasterId xmlns:r="http://schemas.openxmlformats.org/officeDocument/2006/relationships" r:id="R00521f05f65e4dad"/>
  </p:notesMasterIdLst>
  <p:sldIdLst>
    <p:sldId xmlns:r="http://schemas.openxmlformats.org/officeDocument/2006/relationships" id="256" r:id="R450a8094333f4e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21a6757d494e1e" /><Relationship Type="http://schemas.openxmlformats.org/officeDocument/2006/relationships/slideMaster" Target="/ppt/slideMasters/slideMaster1.xml" Id="R541e00a3c3d94f80" /><Relationship Type="http://schemas.openxmlformats.org/officeDocument/2006/relationships/notesMaster" Target="/ppt/notesMasters/notesMaster1.xml" Id="R00521f05f65e4dad" /><Relationship Type="http://schemas.openxmlformats.org/officeDocument/2006/relationships/presProps" Target="/ppt/presProps.xml" Id="R94022e6541254b0c" /><Relationship Type="http://schemas.openxmlformats.org/officeDocument/2006/relationships/tableStyles" Target="/ppt/tableStyles.xml" Id="R1ed2a726a21d40c6" /><Relationship Type="http://schemas.openxmlformats.org/officeDocument/2006/relationships/slide" Target="/ppt/slides/slide1.xml" Id="R450a8094333f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33b522a5949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8b3821915c4802" /><Relationship Type="http://schemas.openxmlformats.org/officeDocument/2006/relationships/notesMaster" Target="/ppt/notesMasters/notesMaster1.xml" Id="R3f38db229c4845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91c28bb7444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3116951759407d" /><Relationship Type="http://schemas.openxmlformats.org/officeDocument/2006/relationships/slideLayout" Target="/ppt/slideLayouts/slideLayout1.xml" Id="Rf624e005e706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24e005e706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65d97cbd64435" /><Relationship Type="http://schemas.openxmlformats.org/officeDocument/2006/relationships/notesSlide" Target="/ppt/notesSlides/notesSlide1.xml" Id="Re2adc833e97545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7F5D76-FAE3-46CA-860A-91B9A912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D1"/>
          </a:solidFill>
          <a:ln xmlns:a="http://schemas.openxmlformats.org/drawingml/2006/main" w="0">
            <a:solidFill>
              <a:srgbClr val="1675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25C1C-5D42-4385-A301-753C278C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11334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C203A"/>
                </a:solidFill>
              </a:defRPr>
            </a:pPr>
            <a:r>
              <a:rPr sz="2850" b="1" i="0">
                <a:solidFill>
                  <a:srgbClr val="0C203A"/>
                </a:solidFill>
              </a:rPr>
              <a:t>Four focused bets can clear a 20% USD hurdle - without underwriting frontline exposure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CEA11-F17A-4404-84DC-BD3BAA13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A"/>
          </a:solidFill>
          <a:ln xmlns:a="http://schemas.openxmlformats.org/drawingml/2006/main" w="0">
            <a:solidFill>
              <a:srgbClr val="0C20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C5CD4-78BC-4FCA-9395-21CA233F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B9DBFF"/>
                </a:solidFill>
              </a:defRPr>
            </a:pPr>
            <a:r>
              <a:rPr sz="863" b="1" i="0">
                <a:solidFill>
                  <a:srgbClr val="B9DBFF"/>
                </a:solidFill>
              </a:rPr>
              <a:t>$10M MANDATE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8A92-3A15-4B51-A365-4C7088D4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$9M deployed + $1M reserve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FBB4C-82C9-43B6-AAE0-74429524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1811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B9DBFF"/>
                </a:solidFill>
              </a:defRPr>
            </a:pPr>
            <a:r>
              <a:rPr sz="863" b="1" i="0">
                <a:solidFill>
                  <a:srgbClr val="B9DBFF"/>
                </a:solidFill>
              </a:rPr>
              <a:t>PROBABILITY-WEIGHTED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040F0-BDF4-466E-97C5-DDB8EDDA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525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24.6% IRR  |  6.50x MOIC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5B71A-7993-4349-9F3A-B0040833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18110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FC0D5"/>
                </a:solidFill>
              </a:defRPr>
            </a:pPr>
            <a:r>
              <a:rPr sz="863" b="1" i="0">
                <a:solidFill>
                  <a:srgbClr val="AFC0D5"/>
                </a:solidFill>
              </a:rPr>
              <a:t>BASE CASE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EBD85-EBE9-4263-8EFD-5339888D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525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22.9% IRR  |  $2.13M NPV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15F55-DEC2-404D-995B-02531EB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81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FC0D5"/>
                </a:solidFill>
              </a:defRPr>
            </a:pPr>
            <a:r>
              <a:rPr sz="863" b="1" i="0">
                <a:solidFill>
                  <a:srgbClr val="AFC0D5"/>
                </a:solidFill>
              </a:rPr>
              <a:t>SCENARIO 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59AF7-0403-499C-95F9-90FDFA0F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52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3.0%-36.2% gross USD IRR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560EC-75A6-41D4-BF2A-3275BC1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81100"/>
            <a:ext cx="1876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AFC0D5"/>
                </a:solidFill>
              </a:defRPr>
            </a:pPr>
            <a:r>
              <a:rPr sz="863" b="1" i="0">
                <a:solidFill>
                  <a:srgbClr val="AFC0D5"/>
                </a:solidFill>
              </a:rPr>
              <a:t>MODEL BASIS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27935-7497-4DDD-B0D7-B53718E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5255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Unlevered  |  10 years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EEA2E-824E-4EA7-834F-2FC14CBF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89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A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3A42E-0521-415B-A33D-CBA858D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Opportunity / target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A2D27-5442-41FE-A4FB-5336F4F5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478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A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11346-2819-4A6F-94F6-4B242955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9547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Allocation / safer region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B0BB0-B959-4270-A007-27DC6E02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478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A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85588-2D9D-41FE-AE9F-D43F2D49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Official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472AF-6608-475C-8C9A-C5EE662F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478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A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0C0F1-459E-41FD-9D10-FA9CA605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954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Analyst base 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87128-3462-4191-B6F8-DCA3C6BA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297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03A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00AB5-737B-4F5C-A388-87E39E16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954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FFFFFF"/>
                </a:solidFill>
              </a:defRPr>
            </a:pPr>
            <a:r>
              <a:rPr sz="1088" b="1" i="0">
                <a:solidFill>
                  <a:srgbClr val="FFFFFF"/>
                </a:solidFill>
              </a:rPr>
              <a:t>Key risk → underwriting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10E4B-8A34-4FD4-8D44-5C6BEA9D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0D1B6-B813-4DBE-8CA5-056A5426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14575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Civilian sensing &amp; autonomy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Infrastructure, farm and industrial inspection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042A4-9684-4FE6-89FC-02CD9E80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4790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DE097-4C64-45C8-8E2E-C15B6EBE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14575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$3.0M</a:t>
            </a:r>
          </a:p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Lviv / Kyiv; distributed team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2D102-B9A4-48CB-A9FF-C8F43826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99EE5-C3DA-481A-B3D8-D11C6FFF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14575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NACE 72: 19.5% operating profitability; +17.3% real turnover CAGR; score 87.7. [S02-S05]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861408-78BC-4101-8EEB-6149DDAE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4790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8F75F1-EA0E-45DF-B91A-272AE8FD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145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28.9% IRR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9.0x MOIC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E0ACD8-9E1E-459F-AF25-2B44FAF2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A8CA4-05B3-4B46-B2CE-22DC7B65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1457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IP / end-use → preferred equity; milestone tranches; IP assignment; civilian-revenue covenant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282366-8B38-4903-BD3A-EF7508B8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D1"/>
          </a:solidFill>
          <a:ln xmlns:a="http://schemas.openxmlformats.org/drawingml/2006/main" w="0">
            <a:solidFill>
              <a:srgbClr val="1675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A58222-BEF8-4F44-BF10-1EE5C12D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82DE0E-6498-4949-A024-AD3C343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57525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Soy/protein processing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Traceable ingredients and export-grade by-products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396AD-5BBD-413E-BFD5-2638738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908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0BB6B5-BBF8-4571-9F63-E8990695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57525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$3.0M</a:t>
            </a:r>
          </a:p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Vinnytsia / Khmelnytskyi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B45E4E-2749-4F7B-95A8-77011117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7479D7-31C7-469D-87A4-B9E1FA81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57525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NACE 10: 4.7% operating profitability; +3.1% real turnover CAGR; score 72.5; $9.5bn export anchor. [S02-S07]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663FA1-1EE0-495E-8F4C-CA92CB3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9085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BEFD19-7F80-483A-B62F-BAF49A1E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5752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21.8% IRR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5.2x MOIC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A07AF0-A58F-427A-BA38-5434FB4D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7BDC02-0B81-47D8-864D-2253A0B3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5752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Feedstock / working capital → contracted supply and offtake; borrowing-base controls; equipment lien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063758-DB05-48A4-ADB7-C622E841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D1"/>
          </a:solidFill>
          <a:ln xmlns:a="http://schemas.openxmlformats.org/drawingml/2006/main" w="0">
            <a:solidFill>
              <a:srgbClr val="1675D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350752-1FA1-4D6D-9405-55C80CDA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0E8A0B-D8B6-4E12-A32E-332AF6DF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00475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Low-carbon construction materials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Insulation, precast or recycled-content products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7AE640-9348-4E1E-B984-E73E5F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3380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9E35CD-07C2-48A6-AB43-13BF17D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00475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$1.5M</a:t>
            </a:r>
          </a:p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Lviv / Ternopil corridor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E9F728-AD5A-4E82-9C4A-815A9B83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03911E-510D-4B2F-A3E1-2A73D49D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00475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NACE 23: 10.6% operating profitability; +8.7% real turnover CAGR; score 76.1. [S02-S05]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33BF4D-00DB-406A-83C9-480303A8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3380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A31AD9-2920-4103-8A76-0D767D4F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004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21.0% IRR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4.8x MOIC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2A55CF-9E60-4DF4-B8EE-1F176DC8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90BD52-84D7-4513-B578-5FF655D2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0047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Ramp / input prices → phased equipment orders; minimum-price clauses; hard-asset security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E1C41F-797B-4B79-933F-F712B994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D1"/>
          </a:solidFill>
          <a:ln xmlns:a="http://schemas.openxmlformats.org/drawingml/2006/main" w="0">
            <a:solidFill>
              <a:srgbClr val="1675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D1BD1E-78D2-48BC-A75D-D09FC0F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EA19BB-9A91-46F4-A2C1-761C78A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43425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Distributed industrial power &amp; storage SPV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Behind-the-meter resilience for multiple plants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B4D3C-8065-4931-A5B2-C42EDFE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7675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443943-AA3E-428C-B402-3434940B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43425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$1.5M</a:t>
            </a:r>
          </a:p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Central / western industrial sites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18106C-83E8-40ED-8750-09FEF1F1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311095-9020-4AF0-934A-CBEA6F9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43425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NACE 35 score 65.1; power/storage is an official priority despite a -4.3% real turnover CAGR. [S02-S05, S17]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0D8A7D-379C-4C7C-B50B-EFC7D2B7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7675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C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17D75B-BDE0-40B4-B3C9-CCD7F2EC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4342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20.9% IRR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4.6x MOIC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405E02-2A9E-477B-9624-0864B74B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76750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679EAC-B284-4AED-8D52-72B7AF2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4342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Offtaker / damage → multi-offtaker SPV; modular phases; equipment security; pursue PRI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35ED4E-142F-4C41-BA71-97B22206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5D1"/>
          </a:solidFill>
          <a:ln xmlns:a="http://schemas.openxmlformats.org/drawingml/2006/main" w="0">
            <a:solidFill>
              <a:srgbClr val="1675D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7A60CF-67ED-4E8B-AD64-C6B1B344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6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75FF0B1-EE98-412A-A6AD-6AE6C52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Diligence &amp; follow-on reserve</a:t>
            </a:r>
          </a:p>
          <a:p xmlns:a="http://schemas.openxmlformats.org/drawingml/2006/main">
            <a:pPr algn="l">
              <a:defRPr sz="1155" b="1" i="0">
                <a:solidFill>
                  <a:srgbClr val="0C203A"/>
                </a:solidFill>
              </a:defRPr>
            </a:pPr>
            <a:r>
              <a:rPr sz="1155" b="1" i="0">
                <a:solidFill>
                  <a:srgbClr val="0C203A"/>
                </a:solidFill>
              </a:rPr>
              <a:t>Release only to protect or scale a validated winner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118342-3CAC-4258-A736-D6DE2280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19700"/>
            <a:ext cx="1562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6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EA89E6-459E-46D9-9873-482EC844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86375"/>
            <a:ext cx="1371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$1.0M</a:t>
            </a:r>
          </a:p>
          <a:p xmlns:a="http://schemas.openxmlformats.org/drawingml/2006/main">
            <a:pPr algn="l">
              <a:defRPr sz="1155" b="0" i="0">
                <a:solidFill>
                  <a:srgbClr val="0C203A"/>
                </a:solidFill>
              </a:defRPr>
            </a:pPr>
            <a:r>
              <a:rPr sz="1155" b="0" i="0">
                <a:solidFill>
                  <a:srgbClr val="0C203A"/>
                </a:solidFill>
              </a:rPr>
              <a:t>Held in USD until conditions clear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C9ED4D-13F9-4F6D-8BFB-99E354BF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1970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6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A2F6F8-9184-4D37-830A-CB57A3DC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86375"/>
            <a:ext cx="2438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No forecast return assigned; current FX and territory orders must be refreshed at signing. [S14, S19]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4A93BCD-58AE-40F9-8526-8E4FA73F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9700"/>
            <a:ext cx="133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6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2D52CE-FCD7-45F8-B311-B436BAA0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86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55" b="1" i="0">
                <a:solidFill>
                  <a:srgbClr val="8A5A00"/>
                </a:solidFill>
              </a:defRPr>
            </a:pPr>
            <a:r>
              <a:rPr sz="1155" b="1" i="0">
                <a:solidFill>
                  <a:srgbClr val="8A5A00"/>
                </a:solidFill>
              </a:rPr>
              <a:t>1.0x residual</a:t>
            </a:r>
          </a:p>
          <a:p xmlns:a="http://schemas.openxmlformats.org/drawingml/2006/main">
            <a:pPr algn="l">
              <a:defRPr sz="1155" b="1" i="0">
                <a:solidFill>
                  <a:srgbClr val="8A5A00"/>
                </a:solidFill>
              </a:defRPr>
            </a:pPr>
            <a:r>
              <a:rPr sz="1155" b="1" i="0">
                <a:solidFill>
                  <a:srgbClr val="8A5A00"/>
                </a:solidFill>
              </a:rPr>
              <a:t>returned in Y10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5CD430-B861-4FD7-9182-F5BD285A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19700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6"/>
          </a:solidFill>
          <a:ln xmlns:a="http://schemas.openxmlformats.org/drawingml/2006/main" w="7620">
            <a:solidFill>
              <a:srgbClr val="CDD5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9F5C3E-1103-4907-85BB-FB10DDA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86375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73" b="0" i="0">
                <a:solidFill>
                  <a:srgbClr val="0C203A"/>
                </a:solidFill>
              </a:defRPr>
            </a:pPr>
            <a:r>
              <a:rPr sz="1073" b="0" i="0">
                <a:solidFill>
                  <a:srgbClr val="0C203A"/>
                </a:solidFill>
              </a:rPr>
              <a:t>Execution / data gaps → QoE, sanctions, end-use, security, insurance and governance conditions precedent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71FEA26-39D0-4BF4-9AE9-D0ADD96F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C13"/>
          </a:solidFill>
          <a:ln xmlns:a="http://schemas.openxmlformats.org/drawingml/2006/main" w="0">
            <a:solidFill>
              <a:srgbClr val="D99C1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BD6139-D0C0-4D94-A603-512EE227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63" b="0" i="1">
                <a:solidFill>
                  <a:srgbClr val="5B6573"/>
                </a:solidFill>
              </a:defRPr>
            </a:pPr>
            <a:r>
              <a:rPr sz="863" b="0" i="1">
                <a:solidFill>
                  <a:srgbClr val="5B6573"/>
                </a:solidFill>
              </a:rPr>
              <a:t>Gross USD equity returns after modeled company tax; before investor taxes, fees and carry. Analyst scenarios are not official forecasts. Base case is unlevered. Physical assets must remain outside officially designated active-hostility and occupied territories.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5DAA1D-C5D4-4A09-B9A1-E0847ABC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0715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B6573"/>
                </a:solidFill>
              </a:defRPr>
            </a:pPr>
            <a:r>
              <a:rPr sz="788" b="0" i="0">
                <a:solidFill>
                  <a:srgbClr val="5B6573"/>
                </a:solidFill>
              </a:rPr>
              <a:t>Sources: Ukrstat S02-S11; NBU S12-S14; UkraineInvest S17-S18; consolidated official territory list S19. Retrieved 9-10 Jul 2026. Full calculations and source files accompany this slide.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F99142-FC12-4667-BC2C-67958CF3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29375"/>
            <a:ext cx="485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573"/>
                </a:solidFill>
              </a:defRPr>
            </a:pPr>
            <a:r>
              <a:rPr sz="900" b="1" i="0">
                <a:solidFill>
                  <a:srgbClr val="5B657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4314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2026-07-10T16:41:04.4900000Z</dcterms:created>
  <dcterms:modified xsi:type="dcterms:W3CDTF">2026-07-10T16:41:04.4900000Z</dcterms:modified>
</coreProperties>
</file>